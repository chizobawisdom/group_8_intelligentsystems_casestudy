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8" r:id="rId2"/>
    <p:sldId id="257" r:id="rId3"/>
    <p:sldId id="268" r:id="rId4"/>
    <p:sldId id="258" r:id="rId5"/>
    <p:sldId id="283" r:id="rId6"/>
    <p:sldId id="269" r:id="rId7"/>
    <p:sldId id="261" r:id="rId8"/>
    <p:sldId id="267" r:id="rId9"/>
    <p:sldId id="285" r:id="rId10"/>
    <p:sldId id="284" r:id="rId11"/>
    <p:sldId id="287" r:id="rId12"/>
    <p:sldId id="286" r:id="rId13"/>
    <p:sldId id="289" r:id="rId14"/>
    <p:sldId id="280" r:id="rId1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C257CF-8ED9-F8E9-8E7C-C6A1BBAC3586}" v="96" dt="2025-10-15T11:28:08.689"/>
    <p1510:client id="{74BE93E2-CB97-350E-30CA-317D942E1F3B}" v="10" dt="2025-10-14T12:07:19.989"/>
    <p1510:client id="{952EF88F-4116-97A5-4962-1230BBCC7DA2}" v="178" dt="2025-10-14T09:32:46.859"/>
    <p1510:client id="{A61D329E-F635-F544-B702-D2E6BAF2BA0F}" v="635" dt="2025-10-15T09:04:55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83082" autoAdjust="0"/>
  </p:normalViewPr>
  <p:slideViewPr>
    <p:cSldViewPr snapToGrid="0">
      <p:cViewPr varScale="1">
        <p:scale>
          <a:sx n="68" d="100"/>
          <a:sy n="68" d="100"/>
        </p:scale>
        <p:origin x="117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21334-BA66-DB40-BAF6-2B22C7723DD9}" type="datetimeFigureOut">
              <a:rPr lang="en-DE" smtClean="0"/>
              <a:t>10/20/2026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0CC56-9DE8-D644-BF20-88B4C0DB730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110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0CC56-9DE8-D644-BF20-88B4C0DB7302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5242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0CC56-9DE8-D644-BF20-88B4C0DB7302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5459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CF021-9AC3-A873-381C-DBFC05B19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4D7EC-6994-957D-2A01-DCB87CCF3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FD942-DF23-1A44-D504-138F3462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B69FA-CB31-4225-8774-6201BA3B2654}" type="datetime1">
              <a:rPr lang="en-US" smtClean="0"/>
              <a:t>10/20/2026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6FE0F-0E75-585C-1AF5-83CD09B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0C001-62E2-3BC7-6DFF-B928C211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491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FA60-504B-B09D-6E7C-2CE95DBA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4484-0429-5854-48E9-018D347D1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237F0-A7BE-6F98-DEEE-1C1C77E7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736C7-67DF-4B04-A94D-56841F34FA11}" type="datetime1">
              <a:rPr lang="en-US" smtClean="0"/>
              <a:t>10/20/2026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5E9CA-47A3-F710-09B6-830B3844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1812-C4F9-6696-CCAD-83F0CE21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372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AB00-9207-B88D-5557-1884728BB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89B0A-B9F2-1ADA-F387-6EFFA6691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4DD4B-D839-37D2-7096-1A4BDEA5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F760-44DB-4C6C-B540-17589643C014}" type="datetime1">
              <a:rPr lang="en-US" smtClean="0"/>
              <a:t>10/20/2026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81A67-B777-D9B2-BA1B-DBBEE669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F9D5E-560E-F104-0805-81B4BE50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536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143A-560A-8222-4C1C-83F8A305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91511-E66D-F6DD-12D6-A55C02181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B5F0B-EC5E-DEF8-361B-12ABE25CC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34199-0951-4AC9-FFD9-A4F55FE6B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9799-BFC0-42F4-AFE1-0D176C544888}" type="datetime1">
              <a:rPr lang="en-US" smtClean="0"/>
              <a:t>10/20/2026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08F80-FC68-6E9C-D814-00AFB72A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C4074-035A-B3F6-B6F3-CC327C7B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729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55A6-0864-D91F-A040-ADEF828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24FD7-BF98-7C3E-4735-0CCDC1E89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B93A5-41BB-151F-F955-CDC06226C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B36DC-B91C-50C2-84BA-FC757DDF2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E8B91-83E8-2A21-0A2E-4F520384B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89513-021B-5B5F-2AB4-7A830D93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B2E0-D036-4586-BA61-E1F0645B7038}" type="datetime1">
              <a:rPr lang="en-US" smtClean="0"/>
              <a:t>10/20/2026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2DEEC-C9D9-6284-D428-F233CA16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7B4F18-C3A3-895B-8A04-2B7197CD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992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03C5-78C3-4B87-31A8-6B5ED20D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B6E1A-2FE3-FA81-59E7-30D1B74D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6FBF3-05C0-4410-97F4-1F241ADD1A85}" type="datetime1">
              <a:rPr lang="en-US" smtClean="0"/>
              <a:t>10/20/2026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7C422-EE22-42BC-A9CF-64D85DBF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83996-3544-F68A-D3F7-6C91AD12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37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77BB8-964E-F819-2378-F0F49C87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B69B-925F-406A-BB2E-3A95A65DA62D}" type="datetime1">
              <a:rPr lang="en-US" smtClean="0"/>
              <a:t>10/20/2026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5B863-7262-5B41-6721-635E04116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99EC5-7ACA-0E4A-052C-54CF19D3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5004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9544-9012-6916-7216-1E606F48A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D2A6-81DE-F306-A979-72AAC6291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ED4FB-2779-E553-48F4-CCBA603F0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28CB4-E490-03ED-6DB7-05D10D6D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6A95-D498-467B-842C-6A1180EBCC0A}" type="datetime1">
              <a:rPr lang="en-US" smtClean="0"/>
              <a:t>10/20/2026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20B77-B289-F0F8-426E-50F17A1F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51D3E-8F02-F982-64A3-82A8914F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737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F2A5-14F0-E216-CBC1-BC3A6BA2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A5A376-47AE-1EB9-9A8A-53F5BBE31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DCF7B-5473-F74F-8E6A-F7428E218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67CAD-A79D-ED34-811D-4D4D686D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1015-35EE-49F2-9BC3-B1261FA7ADDE}" type="datetime1">
              <a:rPr lang="en-US" smtClean="0"/>
              <a:t>10/20/2026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EA400-CB25-4425-DFCE-825312DA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1745F-9DA2-63B9-14BD-AE1E238F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9710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151C-685E-BA32-DCAE-BDFB675F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E237A-A308-C300-76A7-C3701B567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ADC08-2726-85F5-B9B2-51F71E18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917-A7C1-41B8-BFAE-465241F9C3D4}" type="datetime1">
              <a:rPr lang="en-US" smtClean="0"/>
              <a:t>10/20/2026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35EF-45D9-697A-EF75-7B87801A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3F17E-50FE-78BD-16EC-27BA42F5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1256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D65B6-5E97-8525-5C36-89CB178B9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DDD5C-0FC5-9294-8CF4-AFFD4DA1F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82AB4-2DDB-0B80-7B18-ACDF3011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C972F-C4A1-4882-B997-9AB6AD1D6520}" type="datetime1">
              <a:rPr lang="en-US" smtClean="0"/>
              <a:t>10/20/2026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FB16-C188-3AC8-C546-B306BB25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A3093-6DA8-3806-CD62-A67FCC32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938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0B582-E83B-8C6B-62D6-2E4423FAC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65E92-A2CD-0EFD-35CD-E030D056C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45A36-C7D9-600D-038B-5FE45C075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BD3CE-29AB-4F97-9A20-DAADF5E3AA7A}" type="datetime1">
              <a:rPr lang="en-US" smtClean="0"/>
              <a:t>10/20/2026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00AA2-07B6-2B36-266E-95F1C306F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FD303-8AD8-26D9-AAD0-BD7982556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BFBA2-1CB6-1F4E-9BB3-885A90BDAFD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573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IRUSELVAM-SHREECHARAN/Group_8_Intelligentsystems_Casestudy/tree/mai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6748"/>
            <a:ext cx="10515600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Multi-Agent NLP-to-SQL Pipeline for Manufacturing Operations: An Agentic Case Study on the Production Database</a:t>
            </a:r>
            <a:endParaRPr lang="en-US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22514" y="3396343"/>
            <a:ext cx="3281842" cy="305670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0" indent="0">
              <a:lnSpc>
                <a:spcPct val="120000"/>
              </a:lnSpc>
              <a:buNone/>
              <a:tabLst>
                <a:tab pos="4100000" algn="l"/>
                <a:tab pos="83000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Wisdom Favour Chizoba </a:t>
            </a:r>
          </a:p>
          <a:p>
            <a:pPr marL="0" indent="0">
              <a:lnSpc>
                <a:spcPct val="120000"/>
              </a:lnSpc>
              <a:buNone/>
              <a:tabLst>
                <a:tab pos="4100000" algn="l"/>
                <a:tab pos="83000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Thiruselvam Shreecharan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  <a:tabLst>
                <a:tab pos="4100000" algn="l"/>
                <a:tab pos="8300000" algn="l"/>
              </a:tabLst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0DB47-BD66-40D3-AC58-64796F8ACBAF}" type="datetime1">
              <a:rPr lang="en-US" smtClean="0"/>
              <a:t>10/20/2026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1</a:t>
            </a:fld>
            <a:endParaRPr lang="en-DE"/>
          </a:p>
        </p:txBody>
      </p:sp>
      <p:pic>
        <p:nvPicPr>
          <p:cNvPr id="4" name="Picture 6" descr="Deggendorf Institute of Technology in ...">
            <a:extLst>
              <a:ext uri="{FF2B5EF4-FFF2-40B4-BE49-F238E27FC236}">
                <a16:creationId xmlns:a16="http://schemas.microsoft.com/office/drawing/2014/main" id="{6983791B-5009-1899-A7C8-8539A2CC79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4495981" y="2121137"/>
            <a:ext cx="3416075" cy="106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56511B6-5E00-9BD0-1668-997096480130}"/>
              </a:ext>
            </a:extLst>
          </p:cNvPr>
          <p:cNvSpPr txBox="1"/>
          <p:nvPr/>
        </p:nvSpPr>
        <p:spPr>
          <a:xfrm>
            <a:off x="3963901" y="3765661"/>
            <a:ext cx="42641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 Presentation</a:t>
            </a:r>
          </a:p>
          <a:p>
            <a:pPr algn="ctr"/>
            <a:endParaRPr lang="de-DE" sz="3200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BB3DF980-A09D-C739-E8EE-ECA0CA4D68D1}"/>
              </a:ext>
            </a:extLst>
          </p:cNvPr>
          <p:cNvSpPr txBox="1">
            <a:spLocks/>
          </p:cNvSpPr>
          <p:nvPr/>
        </p:nvSpPr>
        <p:spPr>
          <a:xfrm>
            <a:off x="8341279" y="4538133"/>
            <a:ext cx="3281842" cy="1918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Hamidreza Heidari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4100000" algn="l"/>
                <a:tab pos="8300000" algn="l"/>
              </a:tabLst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999F-9D3A-D851-5BF5-576375FF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6" y="365125"/>
            <a:ext cx="11018134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Introduction: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9DB57-E4F7-3C15-BF09-E506BC49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252" y="1690688"/>
            <a:ext cx="10284961" cy="45759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electronics manufacturing, test and quality data is spread across many database tables whose column names differ by product. Engineers without SQL skills wait for custom queries, which delays quality decisions.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motivations: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Single-shot text-to-SQL often fails: it cannot inspect data, test queries or recover from errors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agents with tool use are now mature, but their benefit on industrial schemas is unproven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self-service access to production data for quality and production staff</a:t>
            </a:r>
          </a:p>
        </p:txBody>
      </p:sp>
      <p:pic>
        <p:nvPicPr>
          <p:cNvPr id="2054" name="Picture 6" descr="Deggendorf Institute of Technology in ...">
            <a:extLst>
              <a:ext uri="{FF2B5EF4-FFF2-40B4-BE49-F238E27FC236}">
                <a16:creationId xmlns:a16="http://schemas.microsoft.com/office/drawing/2014/main" id="{CFA7B7AE-D8DF-727B-8AEF-247E1F4E68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5A794-92EA-4993-4A62-E6A5DBC7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5311-84E5-4B37-8F84-D17ECECDC4CA}" type="datetime1">
              <a:rPr lang="en-US" smtClean="0"/>
              <a:t>10/20/2026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50396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719A-0C31-FDA5-E0E5-F454BE91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22" y="313532"/>
            <a:ext cx="10751916" cy="103028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Project Scope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C52EE-B170-9581-079F-02637BC56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4" y="1690687"/>
            <a:ext cx="10710080" cy="46656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Deggendorf Institute of Technology in ...">
            <a:extLst>
              <a:ext uri="{FF2B5EF4-FFF2-40B4-BE49-F238E27FC236}">
                <a16:creationId xmlns:a16="http://schemas.microsoft.com/office/drawing/2014/main" id="{1002C5CA-4B6C-9092-E00F-6C8EFA48F0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24F0E-F346-FA21-E84B-41249BC2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78822" y="1325562"/>
            <a:ext cx="1012407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explores a multi-agent LLM workflow (Planner, Coder and Critic agents) that translates natural-language questions into SQL queries on a snapshot of the manufacturing production database.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of the MariaDB production database in a local Docker container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workflow built with an orchestration framework (e.g., LangGraph)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self-correction: error logs are fed back to the Coder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SELECT-only validation and read-only connection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execution accuracy, query accuracy, latency and token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 (Current Phase):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operations or any access to the live production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as a production service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6EA76-C40B-44D2-B815-5CFA50245439}" type="datetime1">
              <a:rPr lang="en-US" smtClean="0"/>
              <a:t>10/20/2026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894547" y="6165669"/>
            <a:ext cx="4491807" cy="537550"/>
          </a:xfrm>
        </p:spPr>
        <p:txBody>
          <a:bodyPr/>
          <a:lstStyle/>
          <a:p>
            <a:r>
              <a:rPr lang="en-US" dirty="0"/>
              <a:t>Case Study: Multi-Agent NLP-to-SQL Pipeline for Manufacturing Operations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94914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3D60-E8CA-2DDD-1256-824F3D27D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91" y="365125"/>
            <a:ext cx="10752909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A475B-4E4E-E2B8-F661-41B4C8EF0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886879"/>
            <a:ext cx="8647611" cy="27959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multi-agent workflow (Planner, Coder, Critic) that turns natural-language questions into SQL queries.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autonomous self-correction: the Critic executes queries and feeds error logs back to the Coder.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safe execution with SELECT-only validation, a read-only connection and a containerized local database.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execution accuracy, query accuracy, latency and token usage.</a:t>
            </a:r>
          </a:p>
        </p:txBody>
      </p:sp>
      <p:pic>
        <p:nvPicPr>
          <p:cNvPr id="5" name="Picture 6" descr="Deggendorf Institute of Technology in ...">
            <a:extLst>
              <a:ext uri="{FF2B5EF4-FFF2-40B4-BE49-F238E27FC236}">
                <a16:creationId xmlns:a16="http://schemas.microsoft.com/office/drawing/2014/main" id="{07327653-D0A1-4299-E658-5D840C7349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FB924-0F77-F30F-C9C5-5F0D97DA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7B7CD-CEAD-4EBA-A261-B1B2D216A81F}" type="datetime1">
              <a:rPr lang="en-US" smtClean="0"/>
              <a:t>10/20/2026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454435" y="6356350"/>
            <a:ext cx="3879668" cy="365125"/>
          </a:xfrm>
        </p:spPr>
        <p:txBody>
          <a:bodyPr/>
          <a:lstStyle/>
          <a:p>
            <a:r>
              <a:rPr lang="en-US" dirty="0"/>
              <a:t>Case Study: Multi-Agent NLP-to-SQL Pipeline for Manufacturing Operations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89789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5B66-9E2D-CE8B-6824-ACD23B091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9533-F1E1-D7B9-563D-387C3EEC4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766" y="91441"/>
            <a:ext cx="10779034" cy="159924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 descr="Deggendorf Institute of Technology in ...">
            <a:extLst>
              <a:ext uri="{FF2B5EF4-FFF2-40B4-BE49-F238E27FC236}">
                <a16:creationId xmlns:a16="http://schemas.microsoft.com/office/drawing/2014/main" id="{C5337658-4B7B-A3B1-7A5E-9C820FBDA0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04000-05D4-5AD5-D743-7CE2AA51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4302" y="6173784"/>
            <a:ext cx="2743200" cy="365125"/>
          </a:xfrm>
        </p:spPr>
        <p:txBody>
          <a:bodyPr/>
          <a:lstStyle/>
          <a:p>
            <a:fld id="{0FABFBA2-1CB6-1F4E-9BB3-885A90BDAFD4}" type="slidenum">
              <a:rPr lang="en-DE" smtClean="0"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677977"/>
              </p:ext>
            </p:extLst>
          </p:nvPr>
        </p:nvGraphicFramePr>
        <p:xfrm>
          <a:off x="636609" y="1446837"/>
          <a:ext cx="1006997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27374">
                  <a:extLst>
                    <a:ext uri="{9D8B030D-6E8A-4147-A177-3AD203B41FA5}">
                      <a16:colId xmlns:a16="http://schemas.microsoft.com/office/drawing/2014/main" val="838422585"/>
                    </a:ext>
                  </a:extLst>
                </a:gridCol>
                <a:gridCol w="3327374">
                  <a:extLst>
                    <a:ext uri="{9D8B030D-6E8A-4147-A177-3AD203B41FA5}">
                      <a16:colId xmlns:a16="http://schemas.microsoft.com/office/drawing/2014/main" val="800766924"/>
                    </a:ext>
                  </a:extLst>
                </a:gridCol>
                <a:gridCol w="3415226">
                  <a:extLst>
                    <a:ext uri="{9D8B030D-6E8A-4147-A177-3AD203B41FA5}">
                      <a16:colId xmlns:a16="http://schemas.microsoft.com/office/drawing/2014/main" val="149875164"/>
                    </a:ext>
                  </a:extLst>
                </a:gridCol>
              </a:tblGrid>
              <a:tr h="38666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/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456118"/>
                  </a:ext>
                </a:extLst>
              </a:tr>
              <a:tr h="695996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MariaDB (Docker container)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snapshot of the production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594795"/>
                  </a:ext>
                </a:extLst>
              </a:tr>
              <a:tr h="695996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LangGraph (or similar)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Planner, Coder and Critic agent workflow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007114"/>
                  </a:ext>
                </a:extLst>
              </a:tr>
              <a:tr h="695996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API (Anthropic)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Question understanding and SQL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536268"/>
                  </a:ext>
                </a:extLst>
              </a:tr>
              <a:tr h="695996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validation, read-only DB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SELECT-only execution; unsafe queries blocked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788074"/>
                  </a:ext>
                </a:extLst>
              </a:tr>
              <a:tr h="695996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(pandas)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latency and token-usage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296661"/>
                  </a:ext>
                </a:extLst>
              </a:tr>
              <a:tr h="695996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(Optional)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demo for questions and answers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862040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9DD6-AEC1-4334-8EA7-9F89DF76FCC1}" type="datetime1">
              <a:rPr lang="en-US" smtClean="0"/>
              <a:t>10/20/2026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870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436F-886B-91A6-860E-87BC90FF5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77" y="0"/>
            <a:ext cx="10838645" cy="110758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chart: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B97AAF-ECD7-CB45-3A90-580E6ECE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147" y="863284"/>
            <a:ext cx="4533677" cy="53613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91895-8B88-425C-AE6F-3551989A6DA2}" type="datetime1">
              <a:rPr lang="en-US" smtClean="0"/>
              <a:t>10/20/2026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Case Study: Multi-Agent NLP-to-SQL Pipeline for Manufacturing Operations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685899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3AE7-4820-B060-96B4-FB2A459C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87" y="17743"/>
            <a:ext cx="10513322" cy="174574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Deggendorf Institute of Technology in ...">
            <a:extLst>
              <a:ext uri="{FF2B5EF4-FFF2-40B4-BE49-F238E27FC236}">
                <a16:creationId xmlns:a16="http://schemas.microsoft.com/office/drawing/2014/main" id="{7560492A-B598-EADA-6151-7072D9FD3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9009888" y="18255"/>
            <a:ext cx="3182112" cy="124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F1A3F-BC01-7668-FA59-401AAE3B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7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11200" y="1300000"/>
            <a:ext cx="10700000" cy="117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Preparation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Loaded a snapshot of the MariaDB production database into a local Docker container.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Extracted the schema and defined test questions with ground-truth SQL.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11200" y="2530000"/>
            <a:ext cx="10700000" cy="117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Multi-Agent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Planner agent deconstructs the question; Coder agent generates the SQL (e.g., LangGraph).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 agent executes the query and feeds error logs back for self-correction.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200" y="3760000"/>
            <a:ext cx="10700000" cy="11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Safety and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SELECT-only validation and read-only database connection.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limit to prevent endless agent loops.</a:t>
            </a:r>
          </a:p>
        </p:txBody>
      </p:sp>
      <p:sp>
        <p:nvSpPr>
          <p:cNvPr id="11" name="Rectangle 10"/>
          <p:cNvSpPr/>
          <p:nvPr/>
        </p:nvSpPr>
        <p:spPr>
          <a:xfrm rot="10800000" flipV="1">
            <a:off x="711200" y="4990000"/>
            <a:ext cx="10700000" cy="11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Evaluation and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execution accuracy, query accuracy, latency and token usage.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to a single agent if the multi-agent setup proves unreliable.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979BF-D081-41BF-B536-6D4EC2C3A6A3}" type="datetime1">
              <a:rPr lang="en-US" smtClean="0"/>
              <a:t>10/20/2026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5082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8CEC-076C-CB4E-5D45-3BE94132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86794"/>
            <a:ext cx="10922001" cy="92631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of Materials(BOM)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5A391FB-3F39-C0D8-F3B5-64AECB7F13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8852894"/>
              </p:ext>
            </p:extLst>
          </p:nvPr>
        </p:nvGraphicFramePr>
        <p:xfrm>
          <a:off x="431800" y="1384301"/>
          <a:ext cx="11447242" cy="3695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713">
                  <a:extLst>
                    <a:ext uri="{9D8B030D-6E8A-4147-A177-3AD203B41FA5}">
                      <a16:colId xmlns:a16="http://schemas.microsoft.com/office/drawing/2014/main" val="2890469500"/>
                    </a:ext>
                  </a:extLst>
                </a:gridCol>
                <a:gridCol w="2940587">
                  <a:extLst>
                    <a:ext uri="{9D8B030D-6E8A-4147-A177-3AD203B41FA5}">
                      <a16:colId xmlns:a16="http://schemas.microsoft.com/office/drawing/2014/main" val="2905619702"/>
                    </a:ext>
                  </a:extLst>
                </a:gridCol>
                <a:gridCol w="2925740">
                  <a:extLst>
                    <a:ext uri="{9D8B030D-6E8A-4147-A177-3AD203B41FA5}">
                      <a16:colId xmlns:a16="http://schemas.microsoft.com/office/drawing/2014/main" val="3571053779"/>
                    </a:ext>
                  </a:extLst>
                </a:gridCol>
                <a:gridCol w="2819202">
                  <a:extLst>
                    <a:ext uri="{9D8B030D-6E8A-4147-A177-3AD203B41FA5}">
                      <a16:colId xmlns:a16="http://schemas.microsoft.com/office/drawing/2014/main" val="3782330039"/>
                    </a:ext>
                  </a:extLst>
                </a:gridCol>
              </a:tblGrid>
              <a:tr h="698499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Times New Roman"/>
                          <a:cs typeface="Times New Roman"/>
                        </a:rPr>
                        <a:t>Specifications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Times New Roman"/>
                          <a:cs typeface="Times New Roman"/>
                        </a:rPr>
                        <a:t>Quantity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Times New Roman"/>
                          <a:cs typeface="Times New Roman"/>
                        </a:rPr>
                        <a:t>Cost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950420"/>
                  </a:ext>
                </a:extLst>
              </a:tr>
              <a:tr h="108268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API access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Pay-per-use, Anthropic API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Usage-based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794257"/>
                  </a:ext>
                </a:extLst>
              </a:tr>
              <a:tr h="964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MariaDB production snapshot in Docker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768553"/>
                  </a:ext>
                </a:extLst>
              </a:tr>
              <a:tr h="94968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source (Python, LangGraph, Docker)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33156"/>
                  </a:ext>
                </a:extLst>
              </a:tr>
            </a:tbl>
          </a:graphicData>
        </a:graphic>
      </p:graphicFrame>
      <p:pic>
        <p:nvPicPr>
          <p:cNvPr id="4" name="Picture 6" descr="Deggendorf Institute of Technology in ...">
            <a:extLst>
              <a:ext uri="{FF2B5EF4-FFF2-40B4-BE49-F238E27FC236}">
                <a16:creationId xmlns:a16="http://schemas.microsoft.com/office/drawing/2014/main" id="{6EAC4B16-1BB9-4A41-EB01-614CF260CD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-24798"/>
            <a:ext cx="3378200" cy="92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8035C3-0B4D-94AE-24C2-657E49A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BFD3-EFCE-4D9B-9C81-7CE4B1ADD2D1}" type="datetime1">
              <a:rPr lang="en-US" smtClean="0"/>
              <a:t>10/20/2026</a:t>
            </a:fld>
            <a:endParaRPr lang="en-D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03539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BC806-21E5-6ADB-0141-24123242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0C5E-A2C1-C2E4-75D4-CA5C159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71E1-3959-F25E-D66D-6047E7BC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876821"/>
            <a:ext cx="10436654" cy="2376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5" name="Picture 6" descr="Deggendorf Institute of Technology in ...">
            <a:extLst>
              <a:ext uri="{FF2B5EF4-FFF2-40B4-BE49-F238E27FC236}">
                <a16:creationId xmlns:a16="http://schemas.microsoft.com/office/drawing/2014/main" id="{2B15E1A1-8A46-F84C-081E-642242F5E0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609BA-55F9-81E0-3DB5-276706ECC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9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31520" y="1653472"/>
            <a:ext cx="10622280" cy="3374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multi-agent NLP-to-SQL pipeline (Planner, Coder, Critic) on the production database snapshot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 85 % of generated queries execute without syntax errors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query generation time below 5 seconds with minimal token usage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100 % of write or unsafe queries blocked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43F0-05D2-49EF-9E7D-43CD9DBC4FB7}" type="datetime1">
              <a:rPr lang="en-US" smtClean="0"/>
              <a:t>10/20/2026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121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2CCD-1C3B-FEF0-7D45-66E9E3B24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A9B7-B24D-A0A3-8DDB-F293255A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54" y="509452"/>
            <a:ext cx="10515600" cy="1371599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Ethical Checklist: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3797D-84F8-4253-C425-19B4492EC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54" y="1881051"/>
            <a:ext cx="10515600" cy="266554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Read-only, SELECT-only execution; write and unsafe queries are blocked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local database (Docker); the live production system is never accessed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data used only in the local snapshot; company approval for data use has been obtained before experiments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reproducibility: logged agent traces, code and documentation on GitHub; AI tool use declared</a:t>
            </a:r>
          </a:p>
        </p:txBody>
      </p:sp>
      <p:pic>
        <p:nvPicPr>
          <p:cNvPr id="5" name="Picture 6" descr="Deggendorf Institute of Technology in ...">
            <a:extLst>
              <a:ext uri="{FF2B5EF4-FFF2-40B4-BE49-F238E27FC236}">
                <a16:creationId xmlns:a16="http://schemas.microsoft.com/office/drawing/2014/main" id="{F937C2AD-F5F8-2800-DF83-1088872056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5FBD9-1F97-797F-3A78-07CC4D9E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10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6014-31B7-4097-BF50-FF29BB750247}" type="datetime1">
              <a:rPr lang="en-US" smtClean="0"/>
              <a:t>10/20/2026</a:t>
            </a:fld>
            <a:endParaRPr lang="en-D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3502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9232D-7619-9596-8E9C-053189EC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39B8-387F-384E-4437-D4A35C46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17" y="365125"/>
            <a:ext cx="10714083" cy="97869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 descr="Deggendorf Institute of Technology in ...">
            <a:extLst>
              <a:ext uri="{FF2B5EF4-FFF2-40B4-BE49-F238E27FC236}">
                <a16:creationId xmlns:a16="http://schemas.microsoft.com/office/drawing/2014/main" id="{BD7471A7-1EFE-04A8-A6D6-5108B69E4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8D7E6-7802-B2CF-3838-D743C77F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11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9717" y="1634261"/>
            <a:ext cx="1021551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additional language models on accuracy, cost and latency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the pipeline to the full production database and further tables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 user interface for engineers with query review before execution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the assistant to existing dashboards and reporting tools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EFDC-995A-4DAB-B34C-5E8278BACADE}" type="datetime1">
              <a:rPr lang="en-US" smtClean="0"/>
              <a:t>10/20/2026</a:t>
            </a:fld>
            <a:endParaRPr lang="en-D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53551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5FEC-A8DB-95A8-62AC-7FFD8496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1C5F-4716-AAAC-BA0A-D4DD4B9B2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769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7ADFD-E4B1-05F5-5C69-AE80DC982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31420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Approach to Programming: AI Agents, LLMs, and an SQL Generation Case Study - WebThesis. (n.d.). https://webthesis.biblio.polito.it/35273/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Bogdanov, O., Jung, Y., Dhir, C., Gaddam, P., Jain, S., Tumati, L., Parthasarathy, V., &amp; Shirgaonkar, A. (2026). AgentNLQ: a General-Purpose agent for natural language to SQL. arXiv. https://doi.org/10.48550/arxiv.2605.19010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Martinenghi, D. (2024, October 10). Large language models to query your data: Retrieving advertising industry user’s data using natural language. https://www.politesi.polimi.it/handle/10589/226333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Narasimhan, A., Bhamboo, A. K., Devnathan, A., Vellaisamy, J., &amp; Vijayaraghavan, V. (2024). Benchmarking Large Language Models for NL-to-SQL: A Comprehensive Evaluation of Accuracy, Cost and Throughput. TechRxiv. https://doi.org/10.36227/techrxiv.173121325.56335825/v1</a:t>
            </a:r>
          </a:p>
        </p:txBody>
      </p:sp>
      <p:pic>
        <p:nvPicPr>
          <p:cNvPr id="5" name="Picture 6" descr="Deggendorf Institute of Technology in ...">
            <a:extLst>
              <a:ext uri="{FF2B5EF4-FFF2-40B4-BE49-F238E27FC236}">
                <a16:creationId xmlns:a16="http://schemas.microsoft.com/office/drawing/2014/main" id="{FAAFFC74-7F35-027F-DF83-38857B030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D689F-CEDE-0D46-87F5-3095C9BE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12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A5518-B33F-4161-B710-94B204AAC19E}" type="datetime1">
              <a:rPr lang="en-US" smtClean="0"/>
              <a:t>10/20/2026</a:t>
            </a:fld>
            <a:endParaRPr lang="en-D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11432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13</a:t>
            </a:fld>
            <a:endParaRPr lang="en-DE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138075"/>
              </p:ext>
            </p:extLst>
          </p:nvPr>
        </p:nvGraphicFramePr>
        <p:xfrm>
          <a:off x="0" y="856193"/>
          <a:ext cx="12192013" cy="6001807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2533754">
                  <a:extLst>
                    <a:ext uri="{9D8B030D-6E8A-4147-A177-3AD203B41FA5}">
                      <a16:colId xmlns:a16="http://schemas.microsoft.com/office/drawing/2014/main" val="2278516408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966637262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4084252609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9918995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1368821204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1528322982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367600425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876076611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68555812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339252018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1446418656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390974885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1999650167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1558097033"/>
                    </a:ext>
                  </a:extLst>
                </a:gridCol>
              </a:tblGrid>
              <a:tr h="1185518"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(Oct)Week 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(Nov)Week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(Dec)Week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(Jan)Week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705870"/>
                  </a:ext>
                </a:extLst>
              </a:tr>
              <a:tr h="118551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Proposal, literature review &amp; baseline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756732"/>
                  </a:ext>
                </a:extLst>
              </a:tr>
              <a:tr h="1185518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58104"/>
                  </a:ext>
                </a:extLst>
              </a:tr>
              <a:tr h="118551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Experiments &amp; analysis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09483"/>
                  </a:ext>
                </a:extLst>
              </a:tr>
              <a:tr h="12597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presentation &amp;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0111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563754" y="2438527"/>
            <a:ext cx="2168829" cy="39188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792583" y="3624045"/>
            <a:ext cx="3654715" cy="39188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7764355" y="4809563"/>
            <a:ext cx="2168829" cy="39188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507298" y="6032189"/>
            <a:ext cx="3654715" cy="39188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09006" y="0"/>
            <a:ext cx="65740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:​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DEA5-03E1-4D2F-8E5C-B27AE4F88CEB}" type="datetime1">
              <a:rPr lang="en-US" smtClean="0"/>
              <a:t>10/20/2026</a:t>
            </a:fld>
            <a:endParaRPr lang="en-D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9147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DD957A-29D7-AF51-3DE8-563CBC49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3C95-B863-4F41-2F73-2E5B3D6DA00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690948" y="1841864"/>
            <a:ext cx="6453051" cy="1319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E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DE" sz="8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86651" y="4848668"/>
            <a:ext cx="97636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Repository link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04916" y="2211757"/>
            <a:ext cx="3225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C5E34-CC43-4AEC-AF1C-DED382E9199E}" type="datetime1">
              <a:rPr lang="en-US" smtClean="0"/>
              <a:t>10/20/2026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Multi-Agent NLP-to-SQL Pipeline for Manufacturing Operations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218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1119</Words>
  <Application>Microsoft Office PowerPoint</Application>
  <PresentationFormat>Breitbild</PresentationFormat>
  <Paragraphs>177</Paragraphs>
  <Slides>14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Multi-Agent NLP-to-SQL Pipeline for Manufacturing Operations: An Agentic Case Study on the Production Database</vt:lpstr>
      <vt:lpstr>  Introduction:</vt:lpstr>
      <vt:lpstr>Project Scope:</vt:lpstr>
      <vt:lpstr>Objectives:</vt:lpstr>
      <vt:lpstr>Technology Stack:</vt:lpstr>
      <vt:lpstr>Project flow chart:</vt:lpstr>
      <vt:lpstr>Working Methodology:</vt:lpstr>
      <vt:lpstr>Bill of Materials(BOM):</vt:lpstr>
      <vt:lpstr>Expected Outcomes:</vt:lpstr>
      <vt:lpstr>Safety &amp; Ethical Checklist:</vt:lpstr>
      <vt:lpstr>Future Work:</vt:lpstr>
      <vt:lpstr>Bibliography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and  Comparision of Vision models for smart inspection cell</dc:title>
  <dc:creator>yaswitha Pallela</dc:creator>
  <cp:lastModifiedBy>Wisdom Favour Chizoba</cp:lastModifiedBy>
  <cp:revision>52</cp:revision>
  <dcterms:created xsi:type="dcterms:W3CDTF">2025-10-13T08:49:29Z</dcterms:created>
  <dcterms:modified xsi:type="dcterms:W3CDTF">2026-10-20T11:05:39Z</dcterms:modified>
</cp:coreProperties>
</file>